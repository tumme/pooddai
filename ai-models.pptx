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1"/>
    <p:restoredTop sz="94677"/>
  </p:normalViewPr>
  <p:slideViewPr>
    <p:cSldViewPr snapToGrid="0" snapToObjects="1">
      <p:cViewPr varScale="1">
        <p:scale>
          <a:sx n="210" d="100"/>
          <a:sy n="210" d="100"/>
        </p:scale>
        <p:origin x="11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7C867F"/>
                </a:solidFill>
                <a:latin typeface="Menlo"/>
                <a:cs typeface="Sukhumvit Set"/>
              </a:rPr>
              <a:t>PoodDai · สถาปัตยกรรมโมเดล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71C1A"/>
                </a:solidFill>
                <a:latin typeface="Sukhumvit Set"/>
                <a:cs typeface="Sukhumvit Set"/>
              </a:rPr>
              <a:t>โมเดล AI ที่ใช้ในแอป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3703320"/>
            <a:ext cx="3840480" cy="0"/>
          </a:xfrm>
          <a:prstGeom prst="line">
            <a:avLst/>
          </a:prstGeom>
          <a:ln w="25400">
            <a:solidFill>
              <a:srgbClr val="0E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977639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6605A"/>
                </a:solidFill>
                <a:latin typeface="Sukhumvit Set"/>
                <a:cs typeface="Sukhumvit Set"/>
              </a:rPr>
              <a:t>โมเดล 5 กลุ่ม บวกชุดวิเคราะห์สัญญาณเสียงอีกชั้นที่จงใจไม่ใช้ AI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56605A"/>
                </a:solidFill>
                <a:latin typeface="Sukhumvit Set"/>
                <a:cs typeface="Sukhumvit Set"/>
              </a:rPr>
              <a:t>ทุกตัวประมวลผลบนเครื่อง ไม่มีเสียง รูป หรือประวัติการฝึกออกจากเครื่องผู้ใช้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57800"/>
            <a:ext cx="1228953" cy="274320"/>
          </a:xfrm>
          <a:prstGeom prst="roundRect">
            <a:avLst>
              <a:gd name="adj" fmla="val 20000"/>
            </a:avLst>
          </a:prstGeom>
          <a:solidFill>
            <a:srgbClr val="CF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 spc="40" dirty="0" err="1">
                <a:solidFill>
                  <a:srgbClr val="0E7C6B"/>
                </a:solidFill>
                <a:latin typeface="Menlo"/>
                <a:cs typeface="Sukhumvit Set"/>
              </a:rPr>
              <a:t>ติดมากับ</a:t>
            </a:r>
            <a:r>
              <a:rPr sz="950" b="1" i="0" spc="40" dirty="0">
                <a:solidFill>
                  <a:srgbClr val="0E7C6B"/>
                </a:solidFill>
                <a:latin typeface="Menlo"/>
                <a:cs typeface="Sukhumvit Set"/>
              </a:rPr>
              <a:t> 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5257800"/>
            <a:ext cx="1313078" cy="274320"/>
          </a:xfrm>
          <a:prstGeom prst="roundRect">
            <a:avLst>
              <a:gd name="adj" fmla="val 20000"/>
            </a:avLst>
          </a:prstGeom>
          <a:solidFill>
            <a:srgbClr val="EE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 spc="40">
                <a:solidFill>
                  <a:srgbClr val="A9491F"/>
                </a:solidFill>
                <a:latin typeface="Menlo"/>
                <a:cs typeface="Sukhumvit Set"/>
              </a:rPr>
              <a:t>ต้องดาวน์โหลด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257800"/>
            <a:ext cx="1144828" cy="274320"/>
          </a:xfrm>
          <a:prstGeom prst="roundRect">
            <a:avLst>
              <a:gd name="adj" fmla="val 20000"/>
            </a:avLst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 spc="40">
                <a:solidFill>
                  <a:srgbClr val="3B5680"/>
                </a:solidFill>
                <a:latin typeface="Menlo"/>
                <a:cs typeface="Sukhumvit Set"/>
              </a:rPr>
              <a:t>ไม่ใช่โมเดล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6935" y="59893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14 สิงหาคม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ภาพรวม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ความฉลาดส่วนใหญ่มีต้นทุนดาวน์โหลดเป็นศูนย์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แกนที่กำหนดทุกอย่างในสแตกนี้คือ “น้ำหนักโมเดลเก็บไว้ตรงไหน” เพราะมันตัดสินทั้งขนาดแอป เงื่อนไขเครื่องที่รองรับ และสิ่งที่ต้องทำเมื่อโมเดลไม่พร้อม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43070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71C1A"/>
                </a:solidFill>
                <a:latin typeface="Menlo"/>
                <a:cs typeface="Sukhumvit Se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430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กลุ่มโมเดลที่ใช้งานจริง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1679" y="1783080"/>
            <a:ext cx="0" cy="82296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5415" y="1783080"/>
            <a:ext cx="243070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71C1A"/>
                </a:solidFill>
                <a:latin typeface="Menlo"/>
                <a:cs typeface="Sukhumvit Set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5415" y="2331720"/>
            <a:ext cx="2430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ตัวติดมากับ iOS ไม่กินพื้นที่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6703" y="1783080"/>
            <a:ext cx="0" cy="82296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60439" y="1783080"/>
            <a:ext cx="243070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71C1A"/>
                </a:solidFill>
                <a:latin typeface="Menlo"/>
                <a:cs typeface="Sukhumvit Set"/>
              </a:rPr>
              <a:t>613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0439" y="2331720"/>
            <a:ext cx="2430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ที่ต้องโหลดเพิ่ม (ค่าเริ่มต้น)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91727" y="1783080"/>
            <a:ext cx="0" cy="82296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65463" y="1783080"/>
            <a:ext cx="243070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71C1A"/>
                </a:solidFill>
                <a:latin typeface="Menlo"/>
                <a:cs typeface="Sukhumvit Set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5463" y="2331720"/>
            <a:ext cx="2430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ไบต์ที่ส่งขึ้นคลาวด์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880360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10896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40">
                <a:solidFill>
                  <a:srgbClr val="7C867F"/>
                </a:solidFill>
                <a:latin typeface="Menlo"/>
                <a:cs typeface="Sukhumvit Set"/>
              </a:rPr>
              <a:t>ขนาดที่ต้องดาวน์โหลด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564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Apple Foundation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520439"/>
            <a:ext cx="5852160" cy="128016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66160" y="3520439"/>
            <a:ext cx="32004" cy="128016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82912" y="34564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0E7C6B"/>
                </a:solidFill>
                <a:latin typeface="Menlo"/>
                <a:cs typeface="Sukhumvit Set"/>
              </a:rPr>
              <a:t>อยู่ในระบบ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SFSpeechRecognizer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904488"/>
            <a:ext cx="5852160" cy="128016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566160" y="3904488"/>
            <a:ext cx="32004" cy="128016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82912" y="384048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0E7C6B"/>
                </a:solidFill>
                <a:latin typeface="Menlo"/>
                <a:cs typeface="Sukhumvit Set"/>
              </a:rPr>
              <a:t>อยู่ในระบบ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245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Vision (OCR)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288536"/>
            <a:ext cx="5852160" cy="128016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66160" y="4288536"/>
            <a:ext cx="32004" cy="128016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82912" y="422452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0E7C6B"/>
                </a:solidFill>
                <a:latin typeface="Menlo"/>
                <a:cs typeface="Sukhumvit Set"/>
              </a:rPr>
              <a:t>อยู่ในระบบ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6085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AVSpeechSynthesizer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4672584"/>
            <a:ext cx="5852160" cy="128016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66160" y="4672584"/>
            <a:ext cx="32004" cy="128016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82912" y="460857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0E7C6B"/>
                </a:solidFill>
                <a:latin typeface="Menlo"/>
                <a:cs typeface="Sukhumvit Set"/>
              </a:rPr>
              <a:t>อยู่ในระบบ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9262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Kokoro int8 v1.0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5056632"/>
            <a:ext cx="5852160" cy="128016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566160" y="5056632"/>
            <a:ext cx="1499016" cy="128016"/>
          </a:xfrm>
          <a:prstGeom prst="rect">
            <a:avLst/>
          </a:prstGeom>
          <a:solidFill>
            <a:srgbClr val="A94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82912" y="499262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6605A"/>
                </a:solidFill>
                <a:latin typeface="Menlo"/>
                <a:cs typeface="Sukhumvit Set"/>
              </a:rPr>
              <a:t>~125 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7667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Whisper small (ggml)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5440680"/>
            <a:ext cx="5852160" cy="128016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566160" y="5440680"/>
            <a:ext cx="5852160" cy="128016"/>
          </a:xfrm>
          <a:prstGeom prst="rect">
            <a:avLst/>
          </a:prstGeom>
          <a:solidFill>
            <a:srgbClr val="A94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82912" y="537667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6605A"/>
                </a:solidFill>
                <a:latin typeface="Menlo"/>
                <a:cs typeface="Sukhumvit Set"/>
              </a:rPr>
              <a:t>488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87044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6605A"/>
                </a:solidFill>
                <a:latin typeface="Sukhumvit Set"/>
                <a:cs typeface="Sukhumvit Set"/>
              </a:rPr>
              <a:t>Whisper เลือกรุ่นได้ — base 148 MB · small 488 MB (ค่าเริ่มต้น) · medium 1,530 MB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กลไกหลัก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เส้นทางของการพูดหนึ่งครั้ง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ผู้ใช้กดอัดหนึ่งครั้ง แต่เสียงก้อนเดียวกันถูกส่งเข้าสามเส้นทางพร้อมกัน — และมีเพียงสองเส้นทางเท่านั้นที่มีผลกับคะแนน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36392" y="1645920"/>
            <a:ext cx="301752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ผู้ใช้พูด 1 ครั้ง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อัดเป็น WAV 16 kHz mono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0536" y="164592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ประโยคเป้าหมาย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ข้อความจากบทเรียน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45152" y="2194560"/>
            <a:ext cx="0" cy="201168"/>
          </a:xfrm>
          <a:prstGeom prst="line">
            <a:avLst/>
          </a:prstGeom>
          <a:ln w="12700">
            <a:solidFill>
              <a:srgbClr val="7C8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0240" y="2395728"/>
            <a:ext cx="5449824" cy="0"/>
          </a:xfrm>
          <a:prstGeom prst="line">
            <a:avLst/>
          </a:prstGeom>
          <a:ln w="12700">
            <a:solidFill>
              <a:srgbClr val="7C8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20240" y="2395728"/>
            <a:ext cx="0" cy="219456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45152" y="2395728"/>
            <a:ext cx="0" cy="219456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70064" y="2395728"/>
            <a:ext cx="0" cy="219456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94976" y="2194560"/>
            <a:ext cx="0" cy="420624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65960" y="2237797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 err="1">
                <a:solidFill>
                  <a:srgbClr val="7C867F"/>
                </a:solidFill>
                <a:latin typeface="Sukhumvit Set"/>
                <a:cs typeface="Sukhumvit Set"/>
              </a:rPr>
              <a:t>เสียงก้อนเดียวกัน</a:t>
            </a:r>
            <a:r>
              <a:rPr sz="850" b="0" i="0" dirty="0">
                <a:solidFill>
                  <a:srgbClr val="7C867F"/>
                </a:solidFill>
                <a:latin typeface="Sukhumvit Set"/>
                <a:cs typeface="Sukhumvit Set"/>
              </a:rPr>
              <a:t> </a:t>
            </a:r>
            <a:r>
              <a:rPr sz="850" b="0" i="0" dirty="0" err="1">
                <a:solidFill>
                  <a:srgbClr val="7C867F"/>
                </a:solidFill>
                <a:latin typeface="Sukhumvit Set"/>
                <a:cs typeface="Sukhumvit Set"/>
              </a:rPr>
              <a:t>แตกเป็น</a:t>
            </a:r>
            <a:r>
              <a:rPr sz="850" b="0" i="0" dirty="0">
                <a:solidFill>
                  <a:srgbClr val="7C867F"/>
                </a:solidFill>
                <a:latin typeface="Sukhumvit Set"/>
                <a:cs typeface="Sukhumvit Set"/>
              </a:rPr>
              <a:t> 3 </a:t>
            </a:r>
            <a:r>
              <a:rPr sz="850" b="0" i="0" dirty="0" err="1">
                <a:solidFill>
                  <a:srgbClr val="7C867F"/>
                </a:solidFill>
                <a:latin typeface="Sukhumvit Set"/>
                <a:cs typeface="Sukhumvit Set"/>
              </a:rPr>
              <a:t>ทาง</a:t>
            </a:r>
            <a:endParaRPr sz="850" b="0" i="0" dirty="0">
              <a:solidFill>
                <a:srgbClr val="7C867F"/>
              </a:solidFill>
              <a:latin typeface="Sukhumvit Set"/>
              <a:cs typeface="Sukhumvit Se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2615184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0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SFSpeechRecognizer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ในระบบ iOS · บังคับทำบนเครื่อง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2615184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A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Whisper small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ดาวน์โหลด 488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2615184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3B5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ตัวจับระดับเสียง YIN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คำนวณล้วน ไม่มีโมเดล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2615184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A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Kokoro หรือเสียงระบบ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สังเคราะห์เสียงต้นแบบ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3163824"/>
            <a:ext cx="0" cy="512063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02536" y="326440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ข้อความชั่วคราว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45152" y="3163824"/>
            <a:ext cx="0" cy="512063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27448" y="326440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ข้อความสุดท้าย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70064" y="3163824"/>
            <a:ext cx="0" cy="512063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52360" y="326440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ความถี่ต่อเฟรม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75887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4E8E4"/>
          </a:solidFill>
          <a:ln w="1587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ไฮไลต์คำระหว่างพูด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แสดงผลอย่างเดียว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0712" y="3675887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3B5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ScoringEngine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เทียบคำแบบ Levenshtein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5624" y="3675887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3B5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MelodyMatch + ToneAnalyzer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เทียบทำนองและวรรณยุกต์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20240" y="4224527"/>
            <a:ext cx="0" cy="164592"/>
          </a:xfrm>
          <a:prstGeom prst="line">
            <a:avLst/>
          </a:prstGeom>
          <a:ln w="12700">
            <a:solidFill>
              <a:srgbClr val="7C8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73936" y="4389119"/>
            <a:ext cx="292608" cy="0"/>
          </a:xfrm>
          <a:prstGeom prst="line">
            <a:avLst/>
          </a:prstGeom>
          <a:ln w="15875">
            <a:solidFill>
              <a:srgbClr val="7C8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462271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จบทางนี้ ไม่มีผลกับคะแนน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94976" y="3163824"/>
            <a:ext cx="0" cy="786383"/>
          </a:xfrm>
          <a:prstGeom prst="line">
            <a:avLst/>
          </a:prstGeom>
          <a:ln w="12700">
            <a:solidFill>
              <a:srgbClr val="7C8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604504" y="3950207"/>
            <a:ext cx="1490472" cy="0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714232" y="3730751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เส้นเสียงต้นแบบ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45152" y="4224527"/>
            <a:ext cx="0" cy="219456"/>
          </a:xfrm>
          <a:prstGeom prst="line">
            <a:avLst/>
          </a:prstGeom>
          <a:ln w="12700">
            <a:solidFill>
              <a:srgbClr val="7C8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70064" y="4224527"/>
            <a:ext cx="0" cy="219456"/>
          </a:xfrm>
          <a:prstGeom prst="line">
            <a:avLst/>
          </a:prstGeom>
          <a:ln w="12700">
            <a:solidFill>
              <a:srgbClr val="7C8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645152" y="4443983"/>
            <a:ext cx="2724912" cy="0"/>
          </a:xfrm>
          <a:prstGeom prst="line">
            <a:avLst/>
          </a:prstGeom>
          <a:ln w="12700">
            <a:solidFill>
              <a:srgbClr val="7C8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07608" y="4443983"/>
            <a:ext cx="0" cy="237745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087368" y="4681728"/>
            <a:ext cx="3840480" cy="548640"/>
          </a:xfrm>
          <a:prstGeom prst="roundRect">
            <a:avLst>
              <a:gd name="adj" fmla="val 6000"/>
            </a:avLst>
          </a:prstGeom>
          <a:solidFill>
            <a:srgbClr val="E4E8E4"/>
          </a:solidFill>
          <a:ln w="1587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คะแนนการออกเสียง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พร้อมรายการคำที่ออกเสียงพลาด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07608" y="5230368"/>
            <a:ext cx="0" cy="402336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99048" y="531266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คะแนน + คำที่ผิด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67328" y="5632704"/>
            <a:ext cx="4480560" cy="548640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0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Apple Foundation Models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สรุปเป็นคำโค้ชภาษาไทย + สร้างแบบฝึกใหม่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50992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6605A"/>
                </a:solidFill>
                <a:latin typeface="Sukhumvit Set"/>
                <a:cs typeface="Sukhumvit Set"/>
              </a:rPr>
              <a:t>โมเดลภาษาเข้ามาทีหลังสุด — อธิบายคะแนนที่คำนวณเสร็จแล้ว ไม่ใช่เป็นผู้ให้คะแนน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โมเดลที่ติดมากับ 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Apple Foundation Models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0700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90825" cy="274320"/>
          </a:xfrm>
          <a:prstGeom prst="roundRect">
            <a:avLst>
              <a:gd name="adj" fmla="val 20000"/>
            </a:avLst>
          </a:prstGeom>
          <a:solidFill>
            <a:srgbClr val="CF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 spc="40">
                <a:solidFill>
                  <a:srgbClr val="0E7C6B"/>
                </a:solidFill>
                <a:latin typeface="Menlo"/>
                <a:cs typeface="Sukhumvit Set"/>
              </a:rPr>
              <a:t>อยู่ในระบบปฏิบัติการ · 0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4447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67F"/>
                </a:solidFill>
                <a:latin typeface="Menlo"/>
                <a:cs typeface="Sukhumvit Set"/>
              </a:rPr>
              <a:t>SystemLanguageModel.default · LanguageModelSession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ทำอะไร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92808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สมองภาษาของแอปทั้งหมด — โค้ชภาษาไทย, สร้างแบบฝึกจากจุดอ่อน, ตรวจไวยากรณ์, Copilot/SOS, สร้างชุดคำศัพท์, นำเข้าหนังสือจากภาพ, สวมบทคู่สนทนา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17170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253996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ขนาด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26564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0 ไบต์ — โมเดลอยู่ในระบบปฏิบัติการ ไม่ได้แพ็กมากับแอปและไม่ต้องโหลด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50545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587752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คุมผลลัพธ์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60320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guided generation ผ่าน DynamicGenerationSchema → GenerationSchema บังคับให้ตอบเป็น JSON ตามสคีมา แทนการใช้ GBNF grammar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839212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21508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ต้องการ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894076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iOS 26.0 ขึ้นไป · เครื่องที่รองรับ Apple Intelligence (iPhone 15 Pro ขึ้นไป) · ผู้ใช้เปิด Apple Intelligence ไว้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72968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255264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เมื่อใช้ไม่ได้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227832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แยกสาเหตุได้ 6 แบบและบอกผู้ใช้เป็นภาษาไทย · โค้ชสลับไปใช้คำแนะนำแบบกฎที่คำนวณจากคะแนน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506724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85800" y="4160520"/>
            <a:ext cx="10820095" cy="1097280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rtlCol="0" anchor="t"/>
          <a:lstStyle/>
          <a:p>
            <a:pPr algn="l"/>
            <a:r>
              <a:rPr sz="950" b="1" i="0" spc="100">
                <a:solidFill>
                  <a:srgbClr val="0E7C6B"/>
                </a:solidFill>
                <a:latin typeface="Menlo"/>
                <a:cs typeface="Sukhumvit Set"/>
              </a:rPr>
              <a:t>ทำไมเลือกตัวนี้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PRD เดิมกำหนด llama.cpp + GGUF ไว้ แต่เมื่อตัดสินใจไม่ทำฝั่ง Android ข้อได้เปรียบหลักของ llama.cpp ก็หายไป Foundation Models ไม่ต้องโหลดน้ำหนักเพิ่มเลย จึงไม่ไปแย่งทั้งพื้นที่และ RAM กับ Whisper ที่หนักอยู่แล้ว แลกกับการล็อกไว้ที่ iOS 26 ขึ้นไป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160520"/>
            <a:ext cx="10820095" cy="0"/>
          </a:xfrm>
          <a:prstGeom prst="line">
            <a:avLst/>
          </a:prstGeom>
          <a:ln w="25400">
            <a:solidFill>
              <a:srgbClr val="0E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Apple Foundation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โมเดลตัวเดียว ตั้งค่าต่างกันตามงาน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ทุกฟีเจอร์เรียกโมเดลเดียวกัน สิ่งที่ต่างคือความแน่นอนที่ต้องการ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7C867F"/>
                </a:solidFill>
                <a:latin typeface="Menlo"/>
                <a:cs typeface="Sukhumvit Set"/>
              </a:rPr>
              <a:t>ฟีเจอร์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82880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7C867F"/>
                </a:solidFill>
                <a:latin typeface="Menlo"/>
                <a:cs typeface="Sukhumvit Set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828800"/>
            <a:ext cx="6035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7C867F"/>
                </a:solidFill>
                <a:latin typeface="Menlo"/>
                <a:cs typeface="Sukhumvit Set"/>
              </a:rPr>
              <a:t>เหตุผล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084832"/>
            <a:ext cx="10820095" cy="0"/>
          </a:xfrm>
          <a:prstGeom prst="line">
            <a:avLst/>
          </a:prstGeom>
          <a:ln w="1270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231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ตรวจไวยากรณ์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3113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1C1A"/>
                </a:solidFill>
                <a:latin typeface="Menlo"/>
                <a:cs typeface="Sukhumvit Set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23113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ต้องได้ผลเดิมทุกครั้ง ไม่งั้นเส้นใต้ที่ขีดคำผิดจะกระพริบไปมา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670048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7980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นำเข้าหนังสือจากภาพ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7980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1C1A"/>
                </a:solidFill>
                <a:latin typeface="Menlo"/>
                <a:cs typeface="Sukhumvit Set"/>
              </a:rPr>
              <a:t>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798064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ต้องตรงกับหน้าจริง สูงสุด 30 บัตรต่อหน้า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23697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3649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Copilot / 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3649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1C1A"/>
                </a:solidFill>
                <a:latin typeface="Menlo"/>
                <a:cs typeface="Sukhumvit Set"/>
              </a:rPr>
              <a:t>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364992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ประโยคช่วยเหลือควรถูกต้องมากกว่าสร้างสรรค์ · ให้ 3 ระดับความสุภาพ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803904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931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สร้างชุดคำศัพท์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931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1C1A"/>
                </a:solidFill>
                <a:latin typeface="Menlo"/>
                <a:cs typeface="Sukhumvit Set"/>
              </a:rPr>
              <a:t>0.6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93192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10 ใบต่อชุด ต้องการความหลากหลายพอสมควร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4370832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44988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สร้างแบบฝึกจากจุดอ่อน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4988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71C1A"/>
                </a:solidFill>
                <a:latin typeface="Menlo"/>
                <a:cs typeface="Sukhumvit Set"/>
              </a:rPr>
              <a:t>0.8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498848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ประโยคซ้ำเดิมทำให้ฝึกไม่ได้ผล · 3 ประโยค หรือ 5 เมื่อสร้างจากภาพสแกน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493776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506577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โค้ช · คู่สนทนา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06577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7C867F"/>
                </a:solidFill>
                <a:latin typeface="Menlo"/>
                <a:cs typeface="Sukhumvit Set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506577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ข้อความอิสระ คุมด้วยคำสั่งระบบแทน (ตอบไทยเท่านั้น ไม่เกิน 4 ประโยค)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5504688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5724144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ทุกงานที่ต้องการ JSON จะลองใหม่ 2 รอบ และลองเฉพาะกรณีที่โมเดลสร้างผลไม่สำเร็จเท่านั้น — ถ้าสคีมาผิดหรือโมเดลใช้ไม่ได้ จะหยุดทันทีแทนการวนซ้ำเปล่า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โมเดลที่ดาวน์โหลด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Whisper small (ggml)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0700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733702" cy="274320"/>
          </a:xfrm>
          <a:prstGeom prst="roundRect">
            <a:avLst>
              <a:gd name="adj" fmla="val 20000"/>
            </a:avLst>
          </a:prstGeom>
          <a:solidFill>
            <a:srgbClr val="EE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 spc="40">
                <a:solidFill>
                  <a:srgbClr val="A9491F"/>
                </a:solidFill>
                <a:latin typeface="Menlo"/>
                <a:cs typeface="Sukhumvit Set"/>
              </a:rPr>
              <a:t>ดาวน์โหลด · 488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4447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67F"/>
                </a:solidFill>
                <a:latin typeface="Menlo"/>
                <a:cs typeface="Sukhumvit Set"/>
              </a:rPr>
              <a:t>whisper_ggml 2.4.0 · whisper.cpp · ggml-small.bin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ทำอะไร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92808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ถอดเสียงผู้ใช้เป็นข้อความเพื่อนำไปให้คะแนน — เป็นเส้นทางเดียวที่มีผลต่อคะแนน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17170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253996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รุ่นที่ใช้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26564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ค่าเริ่มต้น small แบบหลายภาษา · เปลี่ยนเป็น base (148 MB) หรือ medium (1,530 MB) ได้ในหน้าตั้งค่า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50545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587752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ไม่ใช้รุ่น .en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60320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รุ่นที่รองรับเฉพาะอังกฤษถูกตัดออกตั้งแต่ต้น เพราะแอปต้องรองรับฮีบรูและจีนด้วย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839212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21508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โหลดจาก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894076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huggingface.co/ggerganov/whisper.cpp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72968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255264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รูปแบบเสียง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227832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WAV 16 kHz · mono · 16-bit ทั้งจากไมค์ผ่าน native bridge และจากตัวอัดสำรอง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506724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589020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ชี้นำภาษา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561588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ส่ง language code en · he · zh และใช้ initialPrompt บังคับตัวอักษรจีน เพราะโดยค่าเริ่มต้น Whisper ถอดออกมาเป็นตัวย่อเสมอ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84048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3922776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ดาวน์โหลด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895344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เขียนตัวโหลดแบบสตรีมเอง เพราะตัวที่มากับแพ็กเกจอมทั้งไฟล์ไว้ใน RAM และถูกระบบฆ่าทิ้งตอนโหลดรุ่น medium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417423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5800" y="4617720"/>
            <a:ext cx="10820095" cy="1005840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rtlCol="0" anchor="t"/>
          <a:lstStyle/>
          <a:p>
            <a:pPr algn="l"/>
            <a:r>
              <a:rPr sz="950" b="1" i="0" spc="100">
                <a:solidFill>
                  <a:srgbClr val="A9491F"/>
                </a:solidFill>
                <a:latin typeface="Menlo"/>
                <a:cs typeface="Sukhumvit Set"/>
              </a:rPr>
              <a:t>ข้อจำกัดที่รู้อยู่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Whisper ไม่รับรู้วรรณยุกต์ จึงต้องมีตัววิเคราะห์เสียงสูงต่ำแยกต่างหาก และตัวมันเอง “แก้คำให้อัตโนมัติ” จนทำให้คะแนนความแม่นดูดีเกินจริง ตัวให้คะแนนจึงไม่เชื่อผลถอดเสียงเพียงอย่างเดียว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4617720"/>
            <a:ext cx="10820095" cy="0"/>
          </a:xfrm>
          <a:prstGeom prst="line">
            <a:avLst/>
          </a:prstGeom>
          <a:ln w="25400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โมเดลที่ดาวน์โหลด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Kokoro int8 multi-lang v1.0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0700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817827" cy="274320"/>
          </a:xfrm>
          <a:prstGeom prst="roundRect">
            <a:avLst>
              <a:gd name="adj" fmla="val 20000"/>
            </a:avLst>
          </a:prstGeom>
          <a:solidFill>
            <a:srgbClr val="EE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 spc="40">
                <a:solidFill>
                  <a:srgbClr val="A9491F"/>
                </a:solidFill>
                <a:latin typeface="Menlo"/>
                <a:cs typeface="Sukhumvit Set"/>
              </a:rPr>
              <a:t>ดาวน์โหลด · ~125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4447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67F"/>
                </a:solidFill>
                <a:latin typeface="Menlo"/>
                <a:cs typeface="Sukhumvit Set"/>
              </a:rPr>
              <a:t>kokoro-int8-multi-lang-v1_0 · sherpa-onnx 1.13.5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ทำอะไร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92808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เสียงพูดแบบโครงข่ายประสาท ใช้แทนเสียงระบบเมื่อผู้ใช้เลือก ให้ต้นแบบการออกเสียงที่เป็นธรรมชาติกว่า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17170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253996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ความละเอียด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26564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quantize เป็น int8 — เล็กกว่ารุ่นเต็มราว 3 เท่า โดยคุณภาพเสียงแทบไม่ต่าง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50545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587752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รันด้วย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60320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ONNX Runtime บน CPU 2 threads ใน isolate แยก เพื่อไม่ให้การสังเคราะห์เสียงไปหน่วง UI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839212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21508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ขนาด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894076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ดาวน์โหลด ~125 MB · หลังแตกไฟล์มากกว่า 300 MB เก็บใน Application Support เพื่อไม่ให้ถูกสำรองขึ้น iCloud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172968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255264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เสียงที่เปิดใช้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227832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15 เสียงจาก 53 เสียงในโมเดล — อังกฤษ 7 · จีนตัวเต็ม 4 · จีนตัวย่อ 4 · ความเร็วลดเหลือ 0.7 เมื่อกดฟังช้า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506724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589020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ไม่รองรับ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561588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ฮีบรู — โมเดลไม่มีทั้งเสียงและ G2P สำหรับภาษานี้ จึงตกไปใช้เสียงระบบเสมอ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84048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3922776"/>
            <a:ext cx="141732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ดาวน์โหลด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895344"/>
            <a:ext cx="9402775" cy="31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1C1A"/>
                </a:solidFill>
                <a:latin typeface="Sukhumvit Set"/>
                <a:cs typeface="Sukhumvit Set"/>
              </a:rPr>
              <a:t>โหลดต่อจากจุดเดิมด้วย HTTP Range · retry 6 ครั้ง · แยกออกจากอายุของหน้าจอ ผู้ใช้จึงปิดหน้าต่างระหว่างโหลดได้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417423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5800" y="4709160"/>
            <a:ext cx="10820095" cy="1051560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rtlCol="0" anchor="t"/>
          <a:lstStyle/>
          <a:p>
            <a:pPr algn="l"/>
            <a:r>
              <a:rPr sz="950" b="1" i="0" spc="100">
                <a:solidFill>
                  <a:srgbClr val="A9491F"/>
                </a:solidFill>
                <a:latin typeface="Menlo"/>
                <a:cs typeface="Sukhumvit Set"/>
              </a:rPr>
              <a:t>ทำไมมีเสียงสองระบบ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Kokoro ให้เสียงที่เป็นธรรมชาติกว่ามากแต่กินพื้นที่ ~125 MB และไม่รองรับฮีบรู ส่วนเสียงระบบมีอยู่แล้วในเครื่องและรองรับทุกภาษา ผู้ใช้จึงเลือกได้เองว่าจะใช้อันไหน แยกตามภาษา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4709160"/>
            <a:ext cx="10820095" cy="0"/>
          </a:xfrm>
          <a:prstGeom prst="line">
            <a:avLst/>
          </a:prstGeom>
          <a:ln w="25400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การถอย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ทางล้มเหลวทุกทางลงที่เดียวกัน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ผู้ใช้ได้ยินเสียงเสมอ แม้จะยังไม่เคยโหลดโมเดลเสียงเลยก็ตาม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691640" cy="658368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71C1A"/>
                </a:solidFill>
                <a:latin typeface="Sukhumvit Set"/>
                <a:cs typeface="Sukhumvit Set"/>
              </a:rPr>
              <a:t>กดฟังเสียง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148840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C7C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71C1A"/>
                </a:solidFill>
                <a:latin typeface="Sukhumvit Set"/>
                <a:cs typeface="Sukhumvit Set"/>
              </a:rPr>
              <a:t>รองรับภาษานี้?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148840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C7C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71C1A"/>
                </a:solidFill>
                <a:latin typeface="Sukhumvit Set"/>
                <a:cs typeface="Sukhumvit Set"/>
              </a:rPr>
              <a:t>โหลด Kokoro แล้ว?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148840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C7CF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71C1A"/>
                </a:solidFill>
                <a:latin typeface="Sukhumvit Set"/>
                <a:cs typeface="Sukhumvit Set"/>
              </a:rPr>
              <a:t>สังเคราะห์สำเร็จ?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148840"/>
            <a:ext cx="1691640" cy="658368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A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71C1A"/>
                </a:solidFill>
                <a:latin typeface="Sukhumvit Set"/>
                <a:cs typeface="Sukhumvit Set"/>
              </a:rPr>
              <a:t>เสียง Kokoro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478024"/>
            <a:ext cx="320040" cy="0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2478024"/>
            <a:ext cx="274320" cy="0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00600" y="2221991"/>
            <a:ext cx="27431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C867F"/>
                </a:solidFill>
                <a:latin typeface="Sukhumvit Set"/>
                <a:cs typeface="Sukhumvit Set"/>
              </a:rPr>
              <a:t>ใช่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78040" y="2478024"/>
            <a:ext cx="274320" cy="0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78040" y="2221991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C867F"/>
                </a:solidFill>
                <a:latin typeface="Sukhumvit Set"/>
                <a:cs typeface="Sukhumvit Set"/>
              </a:rPr>
              <a:t>ใช่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55480" y="2478024"/>
            <a:ext cx="274320" cy="0"/>
          </a:xfrm>
          <a:prstGeom prst="line">
            <a:avLst/>
          </a:prstGeom>
          <a:ln w="12700">
            <a:solidFill>
              <a:srgbClr val="7C86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555480" y="2221991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C867F"/>
                </a:solidFill>
                <a:latin typeface="Sukhumvit Set"/>
                <a:cs typeface="Sukhumvit Set"/>
              </a:rPr>
              <a:t>ใช่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9039" y="2807208"/>
            <a:ext cx="0" cy="594360"/>
          </a:xfrm>
          <a:prstGeom prst="line">
            <a:avLst/>
          </a:prstGeom>
          <a:ln w="12700">
            <a:solidFill>
              <a:srgbClr val="7C8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26479" y="2807208"/>
            <a:ext cx="0" cy="594360"/>
          </a:xfrm>
          <a:prstGeom prst="line">
            <a:avLst/>
          </a:prstGeom>
          <a:ln w="12700">
            <a:solidFill>
              <a:srgbClr val="7C8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2807208"/>
            <a:ext cx="0" cy="594360"/>
          </a:xfrm>
          <a:prstGeom prst="line">
            <a:avLst/>
          </a:prstGeom>
          <a:ln w="12700">
            <a:solidFill>
              <a:srgbClr val="7C8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49039" y="3401568"/>
            <a:ext cx="6926581" cy="0"/>
          </a:xfrm>
          <a:prstGeom prst="line">
            <a:avLst/>
          </a:prstGeom>
          <a:ln w="12700">
            <a:solidFill>
              <a:srgbClr val="7C8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75620" y="3401568"/>
            <a:ext cx="0" cy="530352"/>
          </a:xfrm>
          <a:prstGeom prst="line">
            <a:avLst/>
          </a:prstGeom>
          <a:ln w="12700">
            <a:solidFill>
              <a:srgbClr val="7C867F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09760" y="3931920"/>
            <a:ext cx="2331720" cy="658368"/>
          </a:xfrm>
          <a:prstGeom prst="roundRect">
            <a:avLst>
              <a:gd name="adj" fmla="val 6000"/>
            </a:avLst>
          </a:prstGeom>
          <a:solidFill>
            <a:srgbClr val="F0F2EF"/>
          </a:solidFill>
          <a:ln w="15875">
            <a:solidFill>
              <a:srgbClr val="0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71C1A"/>
                </a:solidFill>
                <a:latin typeface="Sukhumvit Set"/>
                <a:cs typeface="Sukhumvit Set"/>
              </a:rPr>
              <a:t>เสียงระบบ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00" b="0" i="0">
                <a:solidFill>
                  <a:srgbClr val="56605A"/>
                </a:solidFill>
                <a:latin typeface="Sukhumvit Set"/>
                <a:cs typeface="Sukhumvit Set"/>
              </a:rPr>
              <a:t>AVSpeechSynthesizer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511296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67F"/>
                </a:solidFill>
                <a:latin typeface="Sukhumvit Set"/>
                <a:cs typeface="Sukhumvit Set"/>
              </a:rPr>
              <a:t>ฮีบรู · ยังไม่โหลด · สังเคราะห์ล้มเหลว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ทางล้มเหลวทั้งสามลงที่เดียวกันและไม่มีการแจ้งเตือน — เป็นการตัดสินใจว่าเสียงที่ได้ยินสำคัญกว่าเสียงที่ดีที่สุด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โมเดลที่ติดมากับ 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อีกสามตัวที่มากับระบบ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ไม่มีน้ำหนักโมเดลอยู่ในแอป เรียกผ่าน platform channel ฝั่ง Swift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423818" cy="3977639"/>
          </a:xfrm>
          <a:prstGeom prst="roundRect">
            <a:avLst>
              <a:gd name="adj" fmla="val 3000"/>
            </a:avLst>
          </a:prstGeom>
          <a:solidFill>
            <a:srgbClr val="E4E8E4"/>
          </a:solidFill>
          <a:ln w="952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011680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1C1A"/>
                </a:solidFill>
                <a:latin typeface="Sukhumvit Set"/>
                <a:cs typeface="Sukhumvit Set"/>
              </a:rPr>
              <a:t>Apple Speech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04288"/>
            <a:ext cx="298490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C867F"/>
                </a:solidFill>
                <a:latin typeface="Menlo"/>
                <a:cs typeface="Sukhumvit Set"/>
              </a:rPr>
              <a:t>SFSpeechRecognizer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" y="2615184"/>
            <a:ext cx="2984906" cy="0"/>
          </a:xfrm>
          <a:prstGeom prst="line">
            <a:avLst/>
          </a:prstGeom>
          <a:ln w="19050">
            <a:solidFill>
              <a:srgbClr val="0E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5256" y="2761488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ทำอะไร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35224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ไฮไลต์คำแบบคาราโอเกะระหว่างพูด และวัดระดับเสียง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483864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บังคับบนเครื่อง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657600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requiresOnDeviceRecognition = true · ถ้าภาษาไหนทำบนเครื่องไม่ได้ แอปเลือกไม่ถอดเสียงสด แทนการส่งขึ้นเซิร์ฟเวอร์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4361688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ภาษา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535424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en-US · he-IL · zh-TW · zh-CN และ th-TH สำหรับ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5084064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ข้อจำกัดที่ตั้งใจ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5257800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ข้อความจากการถอดเสียงสดไม่เคยถูกใช้ให้คะแนน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3938" y="1783080"/>
            <a:ext cx="3423818" cy="3977639"/>
          </a:xfrm>
          <a:prstGeom prst="roundRect">
            <a:avLst>
              <a:gd name="adj" fmla="val 3000"/>
            </a:avLst>
          </a:prstGeom>
          <a:solidFill>
            <a:srgbClr val="E4E8E4"/>
          </a:solidFill>
          <a:ln w="952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03394" y="2011680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1C1A"/>
                </a:solidFill>
                <a:latin typeface="Sukhumvit Set"/>
                <a:cs typeface="Sukhumvit Set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3394" y="2304288"/>
            <a:ext cx="298490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C867F"/>
                </a:solidFill>
                <a:latin typeface="Menlo"/>
                <a:cs typeface="Sukhumvit Set"/>
              </a:rPr>
              <a:t>VNRecognizeTextRequest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03394" y="2615184"/>
            <a:ext cx="2984906" cy="0"/>
          </a:xfrm>
          <a:prstGeom prst="line">
            <a:avLst/>
          </a:prstGeom>
          <a:ln w="19050">
            <a:solidFill>
              <a:srgbClr val="0E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03394" y="2761488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ทำอะไร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3394" y="2935224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อ่านข้อความจากรูปถ่ายหนังสือ แล้วส่งต่อให้ Foundation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3394" y="3483864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ตั้งค่า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3394" y="3657600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.accurate · usesLanguageCorrection · แปลง EXIF orientation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3394" y="4206240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ภาษา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3394" y="4379976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en-US · he-IL · zh-Hant · zh-Hans (กรองกับที่เครื่องรองรับจริง)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3394" y="4928616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เมื่ออ่านไม่ได้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3394" y="5102352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ถอยไปภาษารองแล้วติดธงเตือน — พบบ่อยกับฮีบรู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2076" y="1783080"/>
            <a:ext cx="3423818" cy="3977639"/>
          </a:xfrm>
          <a:prstGeom prst="roundRect">
            <a:avLst>
              <a:gd name="adj" fmla="val 3000"/>
            </a:avLst>
          </a:prstGeom>
          <a:solidFill>
            <a:srgbClr val="E4E8E4"/>
          </a:solidFill>
          <a:ln w="9525">
            <a:solidFill>
              <a:srgbClr val="C7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1532" y="2011680"/>
            <a:ext cx="298490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1C1A"/>
                </a:solidFill>
                <a:latin typeface="Sukhumvit Set"/>
                <a:cs typeface="Sukhumvit Set"/>
              </a:rPr>
              <a:t>AVSpeechSynthesizer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1532" y="2304288"/>
            <a:ext cx="298490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C867F"/>
                </a:solidFill>
                <a:latin typeface="Menlo"/>
                <a:cs typeface="Sukhumvit Set"/>
              </a:rPr>
              <a:t>flutter_tts 4.2.5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01532" y="2615184"/>
            <a:ext cx="2984907" cy="0"/>
          </a:xfrm>
          <a:prstGeom prst="line">
            <a:avLst/>
          </a:prstGeom>
          <a:ln w="19050">
            <a:solidFill>
              <a:srgbClr val="0E7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01532" y="2761488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ทำอะไร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1532" y="2935224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อ่านประโยคให้ฟัง และสังเคราะห์ไฟล์เสียงอ้างอิงเพื่อเทียบเส้นเสียง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1532" y="3483864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ความเร็ว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1532" y="3657600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ฟังปกติ 0.48 · ฟังช้า 0.30 (0.5 คือความเร็วปกติของ iOS)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1532" y="4206240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เลือกเสียง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1532" y="4379976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ความตรงของ locale ก่อน แล้วค่อยดู premium › enhanced › default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1532" y="4928616"/>
            <a:ext cx="298490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ไฟล์อ้างอิง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1532" y="5102352"/>
            <a:ext cx="298490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WAV 16 kHz mono 16-bit ตรงรูปแบบเดียวกับเสียงผู้ใช้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การให้คะแนน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คะแนนรวมมาจากสามตัวเลข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ทั้งสามตัวคำนวณจากข้อความที่ถอดได้เทียบกับประโยคเป้าหมาย — ไม่มีโมเดลภาษาเข้ามาตัดสินตรงนี้เลย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40">
                <a:solidFill>
                  <a:srgbClr val="7C867F"/>
                </a:solidFill>
                <a:latin typeface="Menlo"/>
                <a:cs typeface="Sukhumvit Set"/>
              </a:rPr>
              <a:t>น้ำหนักในคะแนนรวม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5410047" cy="603504"/>
          </a:xfrm>
          <a:prstGeom prst="rect">
            <a:avLst/>
          </a:prstGeom>
          <a:solidFill>
            <a:srgbClr val="3B5680"/>
          </a:solidFill>
          <a:ln w="25400">
            <a:solidFill>
              <a:srgbClr val="F0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Sukhumvit Set"/>
                <a:cs typeface="Sukhumvit Set"/>
              </a:rPr>
              <a:t>ความถูกต้อง  50%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900" b="0" i="0" spc="60">
                <a:solidFill>
                  <a:srgbClr val="FFFFFF"/>
                </a:solidFill>
                <a:latin typeface="Menlo"/>
                <a:cs typeface="Sukhumvit Set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61488"/>
            <a:ext cx="519059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6605A"/>
                </a:solidFill>
                <a:latin typeface="Sukhumvit Set"/>
                <a:cs typeface="Sukhumvit Set"/>
              </a:rPr>
              <a:t>เทียบทีละตำแหน่งด้วย Levenshtein alignment — ตรงเป๊ะได้ 1.0 · สะกดคล้าย (charSimilarity ≥ 0.6) ได้ 0.6 · เป็นคนละคำหรือไม่ได้พูดได้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011680"/>
            <a:ext cx="2164019" cy="603504"/>
          </a:xfrm>
          <a:prstGeom prst="rect">
            <a:avLst/>
          </a:prstGeom>
          <a:solidFill>
            <a:srgbClr val="0E7C6B"/>
          </a:solidFill>
          <a:ln w="25400">
            <a:solidFill>
              <a:srgbClr val="F0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Sukhumvit Set"/>
                <a:cs typeface="Sukhumvit Set"/>
              </a:rPr>
              <a:t>ความครบถ้วน  20%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900" b="0" i="0" spc="60">
                <a:solidFill>
                  <a:srgbClr val="FFFFFF"/>
                </a:solidFill>
                <a:latin typeface="Menlo"/>
                <a:cs typeface="Sukhumvit Set"/>
              </a:rPr>
              <a:t>completeness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4135" y="2761488"/>
            <a:ext cx="194456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6605A"/>
                </a:solidFill>
                <a:latin typeface="Sukhumvit Set"/>
                <a:cs typeface="Sukhumvit Set"/>
              </a:rPr>
              <a:t>นับทุกตำแหน่งที่พยายามพูด ไม่สนว่าถูกไหม — ไว้แยก “พูดผิด” ออกจาก “ข้ามไปเลย” ซึ่งต้องแนะนำคนละแบบ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9866" y="2011680"/>
            <a:ext cx="3246028" cy="603504"/>
          </a:xfrm>
          <a:prstGeom prst="rect">
            <a:avLst/>
          </a:prstGeom>
          <a:solidFill>
            <a:srgbClr val="A9491F"/>
          </a:solidFill>
          <a:ln w="25400">
            <a:solidFill>
              <a:srgbClr val="F0F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Sukhumvit Set"/>
                <a:cs typeface="Sukhumvit Set"/>
              </a:rPr>
              <a:t>ความคล่อง  30%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900" b="0" i="0" spc="60">
                <a:solidFill>
                  <a:srgbClr val="FFFFFF"/>
                </a:solidFill>
                <a:latin typeface="Menlo"/>
                <a:cs typeface="Sukhumvit Set"/>
              </a:rPr>
              <a:t>fluency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8154" y="2761488"/>
            <a:ext cx="30265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6605A"/>
                </a:solidFill>
                <a:latin typeface="Sukhumvit Set"/>
                <a:cs typeface="Sukhumvit Set"/>
              </a:rPr>
              <a:t>ความเร็วพูดเทียบช่วงธรรมชาติ หารด้วยเวลาที่มีเสียงจริงหลังตัดความเงียบหัวท้าย ไม่ใช่ความยาวไฟล์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712463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858768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40">
                <a:solidFill>
                  <a:srgbClr val="7C867F"/>
                </a:solidFill>
                <a:latin typeface="Menlo"/>
                <a:cs typeface="Sukhumvit Set"/>
              </a:rPr>
              <a:t>สูตรรวม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9709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ประโยคปกติ — เป้าหมายตั้งแต่ 3 หน่วยขึ้นไป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169663"/>
            <a:ext cx="6522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71C1A"/>
                </a:solidFill>
                <a:latin typeface="Menlo"/>
                <a:cs typeface="Sukhumvit Set"/>
              </a:rPr>
              <a:t>overall = accuracy × 0.5 + completeness × 0.2 + fluency × 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เป้าหมายสั้นกว่า 3 หน่วย — คำศัพท์ใบเดียว, 謝謝, คำตอบสั้นในบทสนทนา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590288"/>
            <a:ext cx="6522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71C1A"/>
                </a:solidFill>
                <a:latin typeface="Menlo"/>
                <a:cs typeface="Sukhumvit Set"/>
              </a:rPr>
              <a:t>overall = accuracy × 0.7 + completeness × 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10820095" cy="1078992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rtlCol="0" anchor="t"/>
          <a:lstStyle/>
          <a:p>
            <a:pPr algn="l"/>
            <a:r>
              <a:rPr sz="950" b="1" i="0" spc="100">
                <a:solidFill>
                  <a:srgbClr val="3B5680"/>
                </a:solidFill>
                <a:latin typeface="Menlo"/>
                <a:cs typeface="Sukhumvit Set"/>
              </a:rPr>
              <a:t>ทำไมของสั้นไม่คิดความคล่อง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คำศัพท์ใบเดียวหรือคำตอบสั้น ๆ วัดจังหวะการพูดไม่ได้ ความยาวเสียงถูกครอบด้วยเวลากดปุ่มกับหางเสียงมากกว่าการพูดจริง คำเดียวที่ออกเสียงตรงเป๊ะจึงเคยโดนหักเหลือ ~79 คะแนนเพียงเพราะพูดช้าไปครึ่งวินาที รอบแบบนี้ยกน้ำหนักของความคล่อง ไปให้สองตัวที่ยังวัดได้จริง และหน้าจอซ่อนแถบความคล่องทิ้ง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5074920"/>
            <a:ext cx="10820095" cy="0"/>
          </a:xfrm>
          <a:prstGeom prst="line">
            <a:avLst/>
          </a:prstGeom>
          <a:ln w="25400">
            <a:solidFill>
              <a:srgbClr val="3B5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การให้คะแนน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คิดทีละขั้นจากการพูดหนึ่งครั้ง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เป้าหมาย 9 คำ · ผู้เรียนพูดจบใน 4.0 วินาที · ทุกตัวเลขข้างล่างมาจากสูตรในโค้ดจริง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0078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เป้าหมาย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64208"/>
            <a:ext cx="9402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71C1A"/>
                </a:solidFill>
                <a:latin typeface="Menlo"/>
                <a:cs typeface="Sukhumvit Set"/>
              </a:rPr>
              <a:t>i would like to book a table for 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4825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ระบบได้ยิน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011680"/>
            <a:ext cx="9402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6605A"/>
                </a:solidFill>
                <a:latin typeface="Menlo"/>
                <a:cs typeface="Sukhumvit Set"/>
              </a:rPr>
              <a:t>i want like book a tabel for two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3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ตรง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3FAE6A"/>
                </a:solidFill>
                <a:latin typeface="Menlo"/>
                <a:cs typeface="Sukhumvit Set"/>
              </a:rPr>
              <a:t>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95241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would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7809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want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7809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คนละคำ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7809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5484D"/>
                </a:solidFill>
                <a:latin typeface="Menlo"/>
                <a:cs typeface="Sukhumvit Set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77251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3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9819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like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9819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ตรง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9819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3FAE6A"/>
                </a:solidFill>
                <a:latin typeface="Menlo"/>
                <a:cs typeface="Sukhumvit Set"/>
              </a:rPr>
              <a:t>1.0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9260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7C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828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828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ไม่ได้พูด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828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7C867F"/>
                </a:solidFill>
                <a:latin typeface="Menlo"/>
                <a:cs typeface="Sukhumvit Set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1270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3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3838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3838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ตรง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3838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3FAE6A"/>
                </a:solidFill>
                <a:latin typeface="Menlo"/>
                <a:cs typeface="Sukhumvit Set"/>
              </a:rPr>
              <a:t>1.0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3279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3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ตรง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3FAE6A"/>
                </a:solidFill>
                <a:latin typeface="Menlo"/>
                <a:cs typeface="Sukhumvit Set"/>
              </a:rPr>
              <a:t>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05289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EE9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7857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tabel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7857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ใกล้เคียง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7857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EE9A26"/>
                </a:solidFill>
                <a:latin typeface="Menlo"/>
                <a:cs typeface="Sukhumvit Set"/>
              </a:rPr>
              <a:t>0.6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87298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3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for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9866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9866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ตรง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9866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3FAE6A"/>
                </a:solidFill>
                <a:latin typeface="Menlo"/>
                <a:cs typeface="Sukhumvit Set"/>
              </a:rPr>
              <a:t>1.0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69308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3FA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two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1876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two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1876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ตรง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1876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3FAE6A"/>
                </a:solidFill>
                <a:latin typeface="Menlo"/>
                <a:cs typeface="Sukhumvit Set"/>
              </a:rPr>
              <a:t>1.0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51317" y="2596896"/>
            <a:ext cx="1027145" cy="365760"/>
          </a:xfrm>
          <a:prstGeom prst="roundRect">
            <a:avLst>
              <a:gd name="adj" fmla="val 18000"/>
            </a:avLst>
          </a:prstGeom>
          <a:solidFill>
            <a:srgbClr val="7C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nlo"/>
                <a:cs typeface="Sukhumvit Set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3885" y="3017520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6605A"/>
                </a:solidFill>
                <a:latin typeface="Menlo"/>
                <a:cs typeface="Sukhumvit Set"/>
              </a:rPr>
              <a:t>now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3885" y="321868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C867F"/>
                </a:solidFill>
                <a:latin typeface="Sukhumvit Set"/>
                <a:cs typeface="Sukhumvit Set"/>
              </a:rPr>
              <a:t>พูดเกิน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3885" y="3401568"/>
            <a:ext cx="10820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7C867F"/>
                </a:solidFill>
                <a:latin typeface="Menlo"/>
                <a:cs typeface="Sukhumvit Set"/>
              </a:rPr>
              <a:t>ไม่นับ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359152"/>
            <a:ext cx="1082009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40">
                <a:solidFill>
                  <a:srgbClr val="7C867F"/>
                </a:solidFill>
                <a:latin typeface="Menlo"/>
                <a:cs typeface="Sukhumvit Set"/>
              </a:rPr>
              <a:t>เป้าหมาย · ที่ได้ยิน · ผลการเทียบ · แต้ม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85800" y="3712463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89534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แต้มรวม 6.6 จาก 9 หน่วย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38770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Menlo"/>
                <a:cs typeface="Sukhumvit Set"/>
              </a:rPr>
              <a:t>accuracy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87705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6605A"/>
                </a:solidFill>
                <a:latin typeface="Menlo"/>
                <a:cs typeface="Sukhumvit Set"/>
              </a:rPr>
              <a:t>= 6.6 / 9 × 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387705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71C1A"/>
                </a:solidFill>
                <a:latin typeface="Menlo"/>
                <a:cs typeface="Sukhumvit Set"/>
              </a:rPr>
              <a:t>= 73.3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26110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พยายามพูด 8 จาก 9 ตำแหน่ง (ข้ามไป 1)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424281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Menlo"/>
                <a:cs typeface="Sukhumvit Set"/>
              </a:rPr>
              <a:t>completeness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2428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6605A"/>
                </a:solidFill>
                <a:latin typeface="Menlo"/>
                <a:cs typeface="Sukhumvit Set"/>
              </a:rPr>
              <a:t>= 8 / 9 × 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424281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71C1A"/>
                </a:solidFill>
                <a:latin typeface="Menlo"/>
                <a:cs typeface="Sukhumvit Set"/>
              </a:rPr>
              <a:t>= 88.9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462686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9 คำใน 4.0 วินาที = 135 คำ/นาที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460857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Menlo"/>
                <a:cs typeface="Sukhumvit Set"/>
              </a:rPr>
              <a:t>fluency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60857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6605A"/>
                </a:solidFill>
                <a:latin typeface="Menlo"/>
                <a:cs typeface="Sukhumvit Set"/>
              </a:rPr>
              <a:t>= อยู่ในช่วงธรรมชาติ 90–175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460857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71C1A"/>
                </a:solidFill>
                <a:latin typeface="Menlo"/>
                <a:cs typeface="Sukhumvit Set"/>
              </a:rPr>
              <a:t>= 100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" y="5029200"/>
            <a:ext cx="10820095" cy="676656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685800" y="5029200"/>
            <a:ext cx="10820095" cy="0"/>
          </a:xfrm>
          <a:prstGeom prst="line">
            <a:avLst/>
          </a:prstGeom>
          <a:ln w="25400">
            <a:solidFill>
              <a:srgbClr val="EE9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05256" y="513892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71C1A"/>
                </a:solidFill>
                <a:latin typeface="Menlo"/>
                <a:cs typeface="Sukhumvit Set"/>
              </a:rPr>
              <a:t>overall = 73.3 × 0.5 + 88.9 × 0.2 + 100 × 0.3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5120640"/>
            <a:ext cx="278892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1" i="0">
                <a:solidFill>
                  <a:srgbClr val="EE9A26"/>
                </a:solidFill>
                <a:latin typeface="Menlo"/>
                <a:cs typeface="Sukhumvit Set"/>
              </a:rPr>
              <a:t>84.4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513892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E9A26"/>
                </a:solidFill>
                <a:latin typeface="Sukhumvit Set"/>
                <a:cs typeface="Sukhumvit Set"/>
              </a:rPr>
              <a:t>เหลือง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888736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เกณฑ์สีบนหน้าจอ — ตั้งแต่ 85 ขึ้นไปเขียว · ตั้งแต่ 65 เหลือง · ต่ำกว่า 65 แดง (84.4 จึงยังไม่ผ่านเป็นเขียว)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6144768"/>
            <a:ext cx="108200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6605A"/>
                </a:solidFill>
                <a:latin typeface="Sukhumvit Set"/>
                <a:cs typeface="Sukhumvit Set"/>
              </a:rPr>
              <a:t>— คำว่า now ที่พูดเกินมาไม่ถูกหักคะแนน — ตั้งใจให้ผ่อนปรนกับผู้เริ่มต้น แต่แปลว่าพูดวนซ้ำจนกว่าจะถูกไม่มีต้นทุน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การให้คะแนน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ความคล่องคิดจากความเร็วพูด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กราฟรูปสี่เหลี่ยมคางหมู — อยู่ในช่วงธรรมชาติได้เต็ม หลุดออกไปทั้งสองทางได้ 30 เท่ากัน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2011680"/>
            <a:ext cx="2468880" cy="2468880"/>
          </a:xfrm>
          <a:prstGeom prst="rect">
            <a:avLst/>
          </a:prstGeom>
          <a:solidFill>
            <a:srgbClr val="EED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417320" y="3739896"/>
            <a:ext cx="731520" cy="0"/>
          </a:xfrm>
          <a:prstGeom prst="line">
            <a:avLst/>
          </a:prstGeom>
          <a:ln w="28575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148840" y="2011680"/>
            <a:ext cx="1005840" cy="1728216"/>
          </a:xfrm>
          <a:prstGeom prst="line">
            <a:avLst/>
          </a:prstGeom>
          <a:ln w="28575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54680" y="2011680"/>
            <a:ext cx="2468880" cy="0"/>
          </a:xfrm>
          <a:prstGeom prst="line">
            <a:avLst/>
          </a:prstGeom>
          <a:ln w="28575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23560" y="2011680"/>
            <a:ext cx="1005840" cy="1728216"/>
          </a:xfrm>
          <a:prstGeom prst="line">
            <a:avLst/>
          </a:prstGeom>
          <a:ln w="28575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29400" y="3739896"/>
            <a:ext cx="1005840" cy="0"/>
          </a:xfrm>
          <a:prstGeom prst="line">
            <a:avLst/>
          </a:prstGeom>
          <a:ln w="28575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17320" y="1783080"/>
            <a:ext cx="0" cy="2697480"/>
          </a:xfrm>
          <a:prstGeom prst="line">
            <a:avLst/>
          </a:prstGeom>
          <a:ln w="1270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17320" y="4480560"/>
            <a:ext cx="6355080" cy="0"/>
          </a:xfrm>
          <a:prstGeom prst="line">
            <a:avLst/>
          </a:prstGeom>
          <a:ln w="1270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" y="191109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C867F"/>
                </a:solidFill>
                <a:latin typeface="Menlo"/>
                <a:cs typeface="Sukhumvit Set"/>
              </a:rPr>
              <a:t>100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2011680"/>
            <a:ext cx="6355080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0392" y="363931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7C867F"/>
                </a:solidFill>
                <a:latin typeface="Menlo"/>
                <a:cs typeface="Sukhumvit Set"/>
              </a:rPr>
              <a:t>30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3739896"/>
            <a:ext cx="6355080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48840" y="4480560"/>
            <a:ext cx="0" cy="73152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91640" y="45902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171C1A"/>
                </a:solidFill>
                <a:latin typeface="Menlo"/>
                <a:cs typeface="Sukhumvit Set"/>
              </a:rPr>
              <a:t>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914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7C867F"/>
                </a:solidFill>
                <a:latin typeface="Sukhumvit Set"/>
                <a:cs typeface="Sukhumvit Set"/>
              </a:rPr>
              <a:t>floor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54680" y="4480560"/>
            <a:ext cx="0" cy="73152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97480" y="45902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171C1A"/>
                </a:solidFill>
                <a:latin typeface="Menlo"/>
                <a:cs typeface="Sukhumvit Set"/>
              </a:rPr>
              <a:t>90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23560" y="4480560"/>
            <a:ext cx="0" cy="73152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6360" y="45902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171C1A"/>
                </a:solidFill>
                <a:latin typeface="Menlo"/>
                <a:cs typeface="Sukhumvit Set"/>
              </a:rPr>
              <a:t>175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29400" y="4480560"/>
            <a:ext cx="0" cy="73152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72200" y="45902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171C1A"/>
                </a:solidFill>
                <a:latin typeface="Menlo"/>
                <a:cs typeface="Sukhumvit Set"/>
              </a:rPr>
              <a:t>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7914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7C867F"/>
                </a:solidFill>
                <a:latin typeface="Sukhumvit Set"/>
                <a:cs typeface="Sukhumvit Set"/>
              </a:rPr>
              <a:t>ceiling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79145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A9491F"/>
                </a:solidFill>
                <a:latin typeface="Sukhumvit Set"/>
                <a:cs typeface="Sukhumvit Set"/>
              </a:rPr>
              <a:t>ช่วงธรรมชาติ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170078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C867F"/>
                </a:solidFill>
                <a:latin typeface="Sukhumvit Set"/>
                <a:cs typeface="Sukhumvit Set"/>
              </a:rPr>
              <a:t>คะแนนความคล่อง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7914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C867F"/>
                </a:solidFill>
                <a:latin typeface="Sukhumvit Set"/>
                <a:cs typeface="Sukhumvit Set"/>
              </a:rPr>
              <a:t>คำ/นาที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828800"/>
            <a:ext cx="323057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40">
                <a:solidFill>
                  <a:srgbClr val="7C867F"/>
                </a:solidFill>
                <a:latin typeface="Menlo"/>
                <a:cs typeface="Sukhumvit Set"/>
              </a:rPr>
              <a:t>ช่วงของแต่ละภาษา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15798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Sukhumvit Set"/>
                <a:cs typeface="Sukhumvit Set"/>
              </a:rPr>
              <a:t>อังกฤษ / ฮีบรู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395728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คำ/นาที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6151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floor 60 · ธรรมชาติ 90–175 · ceiling 240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75320" y="2980944"/>
            <a:ext cx="3246120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75320" y="312724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Sukhumvit Set"/>
                <a:cs typeface="Sukhumvit Set"/>
              </a:rPr>
              <a:t>จีน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364991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ตัวอักษร/นาที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58444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floor 80 · ธรรมชาติ 140–320 · ceiling 450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75320" y="3950208"/>
            <a:ext cx="3246120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75320" y="407822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6605A"/>
                </a:solidFill>
                <a:latin typeface="Sukhumvit Set"/>
                <a:cs typeface="Sukhumvit Set"/>
              </a:rPr>
              <a:t>ภาษาจีนใช้ช่วงที่กว้างและสูงกว่า เพราะนับเป็นตัวอักษรซึ่งถี่กว่าคำ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138928"/>
            <a:ext cx="10820095" cy="1005840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rtlCol="0" anchor="t"/>
          <a:lstStyle/>
          <a:p>
            <a:pPr algn="l"/>
            <a:r>
              <a:rPr sz="950" b="1" i="0" spc="100">
                <a:solidFill>
                  <a:srgbClr val="A9491F"/>
                </a:solidFill>
                <a:latin typeface="Menlo"/>
                <a:cs typeface="Sukhumvit Set"/>
              </a:rPr>
              <a:t>ตัวหารคือเวลาที่มีเสียงจริง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ความเร็วพูดหารด้วย speechDuration ที่วัดจากพลังงานเสียงและตัดความเงียบหัวท้ายทิ้งแล้ว ไม่ใช่ความยาวไฟล์และไม่ใช่ timestamp ของ Whisper ซึ่งเชื่อถือได้น้อยกว่า · ข้อจำกัดที่ยังอยู่: ตัวตั้งคือจำนวนคำที่ระบบได้ยิน ถ้าโมเดลถอดตกไปครึ่งประโยค ผู้เรียนจะโดนหักความคล่องจากความผิดพลาดของโมเดลซ้ำอีกทาง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5138928"/>
            <a:ext cx="10820095" cy="0"/>
          </a:xfrm>
          <a:prstGeom prst="line">
            <a:avLst/>
          </a:prstGeom>
          <a:ln w="25400">
            <a:solidFill>
              <a:srgbClr val="A94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การให้คะแนน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อีกสามตัวที่วัดจากเสียง ไม่ใช่จากข้อความ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ทั้งสามตัวคำนวณจากเส้นเสียงที่ได้จาก YIN แสดงแยกบนหน้าผลและเก็บลงประวัติ แต่ยังไม่ถูกถ่วงเข้าคะแนนรวม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1700784"/>
            <a:ext cx="3429000" cy="0"/>
          </a:xfrm>
          <a:prstGeom prst="line">
            <a:avLst/>
          </a:prstGeom>
          <a:ln w="25400">
            <a:solidFill>
              <a:srgbClr val="3B5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181051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1C1A"/>
                </a:solidFill>
                <a:latin typeface="Sukhumvit Set"/>
                <a:cs typeface="Sukhumvit Set"/>
              </a:rPr>
              <a:t>Tone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66543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วรรณยุกต์จีนรายพยางค์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Menlo"/>
                <a:cs typeface="Sukhumvit Set"/>
              </a:rPr>
              <a:t>lib/scoring/tone_analyzer.dart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แบ่งพยางค์จากช่วงที่มีเสียงก้อง แล้ว merge/split จนได้เท่าจำนวนตัวอักษรจีน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แปลงเป็นสเกล Chao 1–5 ที่อ้างอิงช่วงเสียงของผู้พูดคนนั้นเอง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8444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อ่านรูปทรง 3 จุด หลังตัดหัวท้ายข้างละ 10%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13632"/>
            <a:ext cx="3429000" cy="566928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3B5680"/>
                </a:solidFill>
                <a:latin typeface="Menlo"/>
                <a:cs typeface="Sukhumvit Set"/>
              </a:rPr>
              <a:t>distance = levelError × 0.4 + shapeError × 0.6</a:t>
            </a:r>
          </a:p>
          <a:p>
            <a:pPr>
              <a:lnSpc>
                <a:spcPct val="125000"/>
              </a:lnSpc>
            </a:pPr>
            <a:r>
              <a:rPr sz="900" b="0" i="0">
                <a:solidFill>
                  <a:srgbClr val="3B5680"/>
                </a:solidFill>
                <a:latin typeface="Menlo"/>
                <a:cs typeface="Sukhumvit Set"/>
              </a:rPr>
              <a:t>score = clamp(1 − distance / 2.5, 0, 1) ×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90288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6605A"/>
                </a:solidFill>
                <a:latin typeface="Sukhumvit Set"/>
                <a:cs typeface="Sukhumvit Set"/>
              </a:rPr>
              <a:t>ถ่วงทิศทางขึ้น-ตกมากกว่าระดับเสียงสัมบูรณ์ เพราะขึ้น-ตกคือสิ่งที่ทำให้ความหมายเปลี่ยน · เสียงเบาได้ 100 อัตโนมัติ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79976" y="1700784"/>
            <a:ext cx="3428999" cy="0"/>
          </a:xfrm>
          <a:prstGeom prst="line">
            <a:avLst/>
          </a:prstGeom>
          <a:ln w="25400">
            <a:solidFill>
              <a:srgbClr val="3B5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79976" y="181051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1C1A"/>
                </a:solidFill>
                <a:latin typeface="Sukhumvit Set"/>
                <a:cs typeface="Sukhumvit Set"/>
              </a:rPr>
              <a:t>Melody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066543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ทำนองเสียงทั้งประโยค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2860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Menlo"/>
                <a:cs typeface="Sukhumvit Set"/>
              </a:rPr>
              <a:t>lib/audio/pitch_outline.dart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5603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ย่อทั้งเสียงผู้เรียนและเสียงต้นแบบเหลือ 48 จุดบนแกนเวลา 0–1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3072384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เก็บเป็นกึ่งเสียงและใช้มัธยฐาน กัน octave error เฟรมเดียวลากทั้งช่วง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358444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หักค่าเฉลี่ยของแต่ละเส้นทิ้งก่อนเทียบ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9976" y="3913632"/>
            <a:ext cx="3429000" cy="566928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3B5680"/>
                </a:solidFill>
                <a:latin typeface="Menlo"/>
                <a:cs typeface="Sukhumvit Set"/>
              </a:rPr>
              <a:t>score = clamp(1 − (error − 1) / 5, 0, 1)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4590288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6605A"/>
                </a:solidFill>
                <a:latin typeface="Sukhumvit Set"/>
                <a:cs typeface="Sukhumvit Set"/>
              </a:rPr>
              <a:t>ต่างไม่เกิน 1 กึ่งเสียง = เต็ม · ตั้งแต่ 6 ขึ้นไป = 0 · ต้องก้องพร้อมกัน ≥ 8 จุด ไม่งั้นถือว่าเชื่อไม่ได้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74152" y="1700784"/>
            <a:ext cx="3429000" cy="0"/>
          </a:xfrm>
          <a:prstGeom prst="line">
            <a:avLst/>
          </a:prstGeom>
          <a:ln w="25400">
            <a:solidFill>
              <a:srgbClr val="3B5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74152" y="181051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1C1A"/>
                </a:solidFill>
                <a:latin typeface="Sukhumvit Set"/>
                <a:cs typeface="Sukhumvit Set"/>
              </a:rPr>
              <a:t>Continuity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2066543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ความต่อเนื่องของจังหวะ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22860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C867F"/>
                </a:solidFill>
                <a:latin typeface="Menlo"/>
                <a:cs typeface="Sukhumvit Set"/>
              </a:rPr>
              <a:t>lib/scoring/prosody_analyzer.dart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25603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ดัง ≥ 12% ของจุดที่ดังที่สุด = กำลังพูด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291693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หยุดสั้นกว่า 120 ms คือช่องว่างระหว่างพยางค์ตามปกติ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342900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1C1A"/>
                </a:solidFill>
                <a:latin typeface="Sukhumvit Set"/>
                <a:cs typeface="Sukhumvit Set"/>
              </a:rPr>
              <a:t>— หยุดเกิน 250 ms นับเป็นการติด ไม่ใช่การวรรค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152" y="3913632"/>
            <a:ext cx="3429000" cy="566928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3B5680"/>
                </a:solidFill>
                <a:latin typeface="Menlo"/>
                <a:cs typeface="Sukhumvit Set"/>
              </a:rPr>
              <a:t>continuity = (ช่วงพูด − เวลาที่ติดรวม) / ช่วงพูด ×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4590288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6605A"/>
                </a:solidFill>
                <a:latin typeface="Sukhumvit Set"/>
                <a:cs typeface="Sukhumvit Set"/>
              </a:rPr>
              <a:t>ไม่พึ่ง timestamp ของ Whisper เพราะประโยคสั้นมักถูกถอดเป็น segment เดียว บอกไม่ได้ว่าติดตรงไหน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394960"/>
            <a:ext cx="10820095" cy="868680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rtlCol="0" anchor="t"/>
          <a:lstStyle/>
          <a:p>
            <a:pPr algn="l"/>
            <a:r>
              <a:rPr sz="950" b="1" i="0" spc="100">
                <a:solidFill>
                  <a:srgbClr val="3B5680"/>
                </a:solidFill>
                <a:latin typeface="Menlo"/>
                <a:cs typeface="Sukhumvit Set"/>
              </a:rPr>
              <a:t>ทั้งสามตัวยังไม่เข้าคะแนนรวม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คะแนนรวมยังคิดจากข้อความล้วน ผู้เรียนภาษาจีนที่ผิดวรรณยุกต์ทุกพยางค์แต่ Whisper ถอดตัวอักษรถูก จะได้คะแนนรวมเกือบเต็ม ทั้งที่ ToneChart ข้างล่างแดงหมด — ถ้าจะให้สะท้อนความจริงกว่านี้ ต้องถ่วง toneScore เข้าไปเมื่อวิเคราะห์เสียงได้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5394960"/>
            <a:ext cx="10820095" cy="0"/>
          </a:xfrm>
          <a:prstGeom prst="line">
            <a:avLst/>
          </a:prstGeom>
          <a:ln w="25400">
            <a:solidFill>
              <a:srgbClr val="3B5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ส่วนที่จงใจไม่ใช้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การให้คะแนนไม่มีโมเดลเข้ามาเกี่ยว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99056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6605A"/>
                </a:solidFill>
                <a:latin typeface="Sukhumvit Set"/>
                <a:cs typeface="Sukhumvit Set"/>
              </a:rPr>
              <a:t>คะแนนที่ผู้ใช้เห็นต้องอธิบายได้ และต้องเท่าเดิมเมื่อพูดเหมือนเดิม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8132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733702" cy="274320"/>
          </a:xfrm>
          <a:prstGeom prst="roundRect">
            <a:avLst>
              <a:gd name="adj" fmla="val 20000"/>
            </a:avLst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 i="0" spc="40">
                <a:solidFill>
                  <a:srgbClr val="3B5680"/>
                </a:solidFill>
                <a:latin typeface="Menlo"/>
                <a:cs typeface="Sukhumvit Set"/>
              </a:rPr>
              <a:t>ไม่ใช่โมเดล · 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จับระดับเสียง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04288"/>
            <a:ext cx="9402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อัลกอริทึม YIN — window 768 · hop 160 · threshold 0.15 ผ่าน 4 ขั้น (difference → cumulative mean → absolute threshold → parabolic interpolation) รันใน isolate แยก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816352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898648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เทียบทำนอง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71216"/>
            <a:ext cx="9402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ย่อเส้นเสียงเหลือ 48 จุด แล้วเทียบกับไฟล์อ้างอิงแบบไม่สนระดับเสียงโดยรวม — ผู้ใช้เสียงทุ้มหรือแหลมกว่าต้นแบบจึงไม่ถูกหักคะแนน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38328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465576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เทียบคำ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38144"/>
            <a:ext cx="9402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Levenshtein alignment ระหว่างคำที่ถอดได้กับประโยคเป้าหมาย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950208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032504"/>
            <a:ext cx="141732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40">
                <a:solidFill>
                  <a:srgbClr val="7C867F"/>
                </a:solidFill>
                <a:latin typeface="Menlo"/>
                <a:cs typeface="Sukhumvit Set"/>
              </a:rPr>
              <a:t>คำอ่านไทย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005072"/>
            <a:ext cx="9402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ใช้พจนานุกรมคำอ่านที่คัดเอง แทนการให้ LLM ถอดเสียงเป็นอักษรไทย ซึ่งไม่น่าเชื่อถือพอ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51713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85800" y="4983480"/>
            <a:ext cx="10820095" cy="1005840"/>
          </a:xfrm>
          <a:prstGeom prst="rect">
            <a:avLst/>
          </a:prstGeom>
          <a:solidFill>
            <a:srgbClr val="E4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19456" rtlCol="0" anchor="t"/>
          <a:lstStyle/>
          <a:p>
            <a:pPr algn="l"/>
            <a:r>
              <a:rPr sz="950" b="1" i="0" spc="100">
                <a:solidFill>
                  <a:srgbClr val="3B5680"/>
                </a:solidFill>
                <a:latin typeface="Menlo"/>
                <a:cs typeface="Sukhumvit Set"/>
              </a:rPr>
              <a:t>ทำไมไม่ใช้โมเดล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โมเดลภาษาให้ผลไม่คงที่พอสำหรับงานนี้ และ Whisper ก็ไม่รับรู้วรรณยุกต์ตั้งแต่แรก คะแนนจึงต้องมาจากการคำนวณสัญญาณล้วน ๆ ที่ได้ผลเดิมทุกครั้ง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983480"/>
            <a:ext cx="10820095" cy="0"/>
          </a:xfrm>
          <a:prstGeom prst="line">
            <a:avLst/>
          </a:prstGeom>
          <a:ln w="25400">
            <a:solidFill>
              <a:srgbClr val="3B5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spc="140">
                <a:solidFill>
                  <a:srgbClr val="7C867F"/>
                </a:solidFill>
                <a:latin typeface="Menlo"/>
                <a:cs typeface="Sukhumvit Set"/>
              </a:rPr>
              <a:t>ข้อจำกัด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71C1A"/>
                </a:solidFill>
                <a:latin typeface="Sukhumvit Set"/>
                <a:cs typeface="Sukhumvit Set"/>
              </a:rPr>
              <a:t>เงื่อนไขเครื่องและสิ่งที่แลกมา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207008"/>
            <a:ext cx="10820095" cy="0"/>
          </a:xfrm>
          <a:prstGeom prst="line">
            <a:avLst/>
          </a:prstGeom>
          <a:ln w="9525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C867F"/>
                </a:solidFill>
                <a:latin typeface="Menlo"/>
                <a:cs typeface="Sukhumvit Se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iOS ขั้นต่ำของแอป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6916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Menlo"/>
                <a:cs typeface="Sukhumvit Set"/>
              </a:rPr>
              <a:t>26.0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Foundation Models ต้องการ iOS 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039112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1305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ชิป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Menlo"/>
                <a:cs typeface="Sukhumvit Set"/>
              </a:rPr>
              <a:t>iPhone 15 Pro ขึ้นไป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3055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เงื่อนไขของ Apple Intelligence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478024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5694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iOS ขั้นต่ำของ pod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56946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Menlo"/>
                <a:cs typeface="Sukhumvit Set"/>
              </a:rPr>
              <a:t>15.6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6946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เงื่อนไขของ whisper_ggml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916936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0083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เครื่องมือ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083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Menlo"/>
                <a:cs typeface="Sukhumvit Set"/>
              </a:rPr>
              <a:t>Xcode 26 ขึ้นไป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0837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ต้องมี FoundationModels SDK ตอนคอมไพล์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355848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4472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Android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472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Menlo"/>
                <a:cs typeface="Sukhumvit Set"/>
              </a:rPr>
              <a:t>ไม่รองรับ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4728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bridge ทุกตัวเขียนฝั่ง iOS อย่างเดียว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794760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3886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A"/>
                </a:solidFill>
                <a:latin typeface="Sukhumvit Set"/>
                <a:cs typeface="Sukhumvit Set"/>
              </a:rPr>
              <a:t>พื้นที่เมื่อโหลดครบ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8862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71C1A"/>
                </a:solidFill>
                <a:latin typeface="Menlo"/>
                <a:cs typeface="Sukhumvit Set"/>
              </a:rPr>
              <a:t>~613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8862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605A"/>
                </a:solidFill>
                <a:latin typeface="Sukhumvit Set"/>
                <a:cs typeface="Sukhumvit Set"/>
              </a:rPr>
              <a:t>Whisper small + Kokoro (แตกไฟล์แล้วใช้มากกว่านี้)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233672"/>
            <a:ext cx="10820095" cy="0"/>
          </a:xfrm>
          <a:prstGeom prst="line">
            <a:avLst/>
          </a:prstGeom>
          <a:ln w="6350">
            <a:solidFill>
              <a:srgbClr val="C7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4553712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40">
                <a:solidFill>
                  <a:srgbClr val="7C867F"/>
                </a:solidFill>
                <a:latin typeface="Menlo"/>
                <a:cs typeface="Sukhumvit Set"/>
              </a:rPr>
              <a:t>สิ่งที่ยอมแลก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864608"/>
            <a:ext cx="106189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— ล็อกไว้ที่ iOS 26 และ iPhone 15 Pro ขึ้นไป — แลกกับการไม่ต้องโหลดโมเดลภาษาเพิ่มเลย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175504"/>
            <a:ext cx="106189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— ตัด Cloud Fallback ออกทั้งหมด — แลกกับคำสัญญาว่าไม่มีอะไรออกจากเครื่อง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486400"/>
            <a:ext cx="106189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71C1A"/>
                </a:solidFill>
                <a:latin typeface="Sukhumvit Set"/>
                <a:cs typeface="Sukhumvit Set"/>
              </a:rPr>
              <a:t>— ฮีบรูได้ประสบการณ์ด้อยกว่า (ไม่มีเสียงโครงข่าย · OCR อาจไม่รองรับ) — แอปบอกผู้ใช้ตรง ๆ แทนการแอบใช้เซิร์ฟเวอร์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2908</Words>
  <Application>Microsoft Macintosh PowerPoint</Application>
  <PresentationFormat>Widescreen</PresentationFormat>
  <Paragraphs>387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Menlo</vt:lpstr>
      <vt:lpstr>Sukhumvit Set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Kaitbanjong Chawnan</cp:lastModifiedBy>
  <cp:revision>2</cp:revision>
  <dcterms:created xsi:type="dcterms:W3CDTF">2013-01-27T09:14:16Z</dcterms:created>
  <dcterms:modified xsi:type="dcterms:W3CDTF">2026-08-14T16:08:08Z</dcterms:modified>
  <cp:category/>
</cp:coreProperties>
</file>